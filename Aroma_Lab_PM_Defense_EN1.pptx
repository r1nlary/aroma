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75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NARXOZ UNIVERSITY  /  IT PROJECT MANAGEMENT  /  FINAL DEFENSE 2026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64592" cy="164592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Aroma Lab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COFFEE CHAIN ERP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B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paper receipts and Excel sheets to a single web app —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8B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POS, inventory and finance unified, built in 6 weeks.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4251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3033" y="4462272"/>
            <a:ext cx="4483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github.com/R1nlary/aroma</a:t>
            </a:r>
            <a:endParaRPr lang="ru-RU" sz="1200" dirty="0">
              <a:solidFill>
                <a:srgbClr val="F4F1E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r">
              <a:buNone/>
            </a:pPr>
            <a:r>
              <a:rPr lang="en-US" sz="1200" dirty="0">
                <a:solidFill>
                  <a:srgbClr val="F4F1EC"/>
                </a:solidFill>
                <a:latin typeface="Consolas" pitchFamily="34" charset="0"/>
                <a:cs typeface="Consolas" pitchFamily="34" charset="-120"/>
              </a:rPr>
              <a:t>Abay Akram, Shamen Bauyrzhan, </a:t>
            </a:r>
            <a:r>
              <a:rPr lang="en-US" sz="1200" dirty="0" err="1">
                <a:solidFill>
                  <a:srgbClr val="F4F1EC"/>
                </a:solidFill>
                <a:latin typeface="Consolas" pitchFamily="34" charset="0"/>
                <a:cs typeface="Consolas" pitchFamily="34" charset="-120"/>
              </a:rPr>
              <a:t>Baidash</a:t>
            </a:r>
            <a:r>
              <a:rPr lang="en-US" sz="1200" dirty="0">
                <a:solidFill>
                  <a:srgbClr val="F4F1EC"/>
                </a:solidFill>
                <a:latin typeface="Consolas" pitchFamily="34" charset="0"/>
                <a:cs typeface="Consolas" pitchFamily="34" charset="-120"/>
              </a:rPr>
              <a:t> Temirlan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chaos across 6 branches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5468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Paper, Excel, end-of-day counts.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73152" cy="73152"/>
          </a:xfrm>
          <a:prstGeom prst="rect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868680" y="2441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recorded on paper or standalone tills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73152" cy="73152"/>
          </a:xfrm>
          <a:prstGeom prst="rect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counted manually at end of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429000"/>
            <a:ext cx="73152" cy="73152"/>
          </a:xfrm>
          <a:prstGeom prst="rect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868680" y="3355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typed by accountant from receipts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73152" cy="73152"/>
          </a:xfrm>
          <a:prstGeom prst="rect">
            <a:avLst/>
          </a:prstGeom>
          <a:solidFill>
            <a:srgbClr val="E89A4A"/>
          </a:solidFill>
          <a:ln w="12700">
            <a:solidFill>
              <a:srgbClr val="E89A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868680" y="3813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revenue or food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web app, four modules, live data.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1828800" cy="347472"/>
          </a:xfrm>
          <a:prstGeom prst="rect">
            <a:avLst/>
          </a:prstGeom>
          <a:solidFill>
            <a:srgbClr val="EAE5DC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423160"/>
            <a:ext cx="1828800" cy="347472"/>
          </a:xfrm>
          <a:prstGeom prst="rect">
            <a:avLst/>
          </a:prstGeom>
          <a:solidFill>
            <a:srgbClr val="EAE5DC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672084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1828800" cy="347472"/>
          </a:xfrm>
          <a:prstGeom prst="rect">
            <a:avLst/>
          </a:prstGeom>
          <a:solidFill>
            <a:srgbClr val="EAE5DC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880360"/>
            <a:ext cx="1828800" cy="347472"/>
          </a:xfrm>
          <a:prstGeom prst="rect">
            <a:avLst/>
          </a:prstGeom>
          <a:solidFill>
            <a:srgbClr val="EAE5DC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6720840" y="2880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73152" cy="73152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6" name="Text 24"/>
          <p:cNvSpPr/>
          <p:nvPr/>
        </p:nvSpPr>
        <p:spPr>
          <a:xfrm>
            <a:off x="493776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sale → auto stock deduction + invoice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49624"/>
            <a:ext cx="73152" cy="73152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8" name="Text 26"/>
          <p:cNvSpPr/>
          <p:nvPr/>
        </p:nvSpPr>
        <p:spPr>
          <a:xfrm>
            <a:off x="493776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alerts: OK / Warning / Critical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178808"/>
            <a:ext cx="73152" cy="73152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0" name="Text 28"/>
          <p:cNvSpPr/>
          <p:nvPr/>
        </p:nvSpPr>
        <p:spPr>
          <a:xfrm>
            <a:off x="493776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dashboard with charts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SCOPE &amp; SCHEDULE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weeks, four milestones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MAR 15 – APR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46888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46888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· M1–M4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SHIPPED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0" cy="777240"/>
          </a:xfrm>
          <a:prstGeom prst="line">
            <a:avLst/>
          </a:prstGeom>
          <a:noFill/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658368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Planning, risks, 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API, UI, DB,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75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Landing, styling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226259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1226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1226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wk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10307" y="3767328"/>
            <a:ext cx="146304" cy="146304"/>
          </a:xfrm>
          <a:prstGeom prst="ellipse">
            <a:avLst/>
          </a:prstGeom>
          <a:solidFill>
            <a:srgbClr val="C8741A"/>
          </a:solidFill>
          <a:ln w="19050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1317699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56611" y="3200400"/>
            <a:ext cx="2092532" cy="292608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Text 20"/>
          <p:cNvSpPr/>
          <p:nvPr/>
        </p:nvSpPr>
        <p:spPr>
          <a:xfrm>
            <a:off x="1756611" y="2880360"/>
            <a:ext cx="2092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56611" y="3547872"/>
            <a:ext cx="20925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wk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22295" y="3200400"/>
            <a:ext cx="2525669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5" name="Text 23"/>
          <p:cNvSpPr/>
          <p:nvPr/>
        </p:nvSpPr>
        <p:spPr>
          <a:xfrm>
            <a:off x="3922295" y="2880360"/>
            <a:ext cx="2525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22295" y="3547872"/>
            <a:ext cx="2525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74812" y="3767328"/>
            <a:ext cx="146304" cy="146304"/>
          </a:xfrm>
          <a:prstGeom prst="ellipse">
            <a:avLst/>
          </a:prstGeom>
          <a:solidFill>
            <a:srgbClr val="C8741A"/>
          </a:solidFill>
          <a:ln w="19050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8" name="Text 26"/>
          <p:cNvSpPr/>
          <p:nvPr/>
        </p:nvSpPr>
        <p:spPr>
          <a:xfrm>
            <a:off x="6082204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21116" y="3200400"/>
            <a:ext cx="793122" cy="292608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0" name="Text 28"/>
          <p:cNvSpPr/>
          <p:nvPr/>
        </p:nvSpPr>
        <p:spPr>
          <a:xfrm>
            <a:off x="6521116" y="2880360"/>
            <a:ext cx="7931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21116" y="3547872"/>
            <a:ext cx="79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41085" y="3767328"/>
            <a:ext cx="146304" cy="146304"/>
          </a:xfrm>
          <a:prstGeom prst="ellipse">
            <a:avLst/>
          </a:prstGeom>
          <a:solidFill>
            <a:srgbClr val="C8741A"/>
          </a:solidFill>
          <a:ln w="19050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3" name="Text 31"/>
          <p:cNvSpPr/>
          <p:nvPr/>
        </p:nvSpPr>
        <p:spPr>
          <a:xfrm>
            <a:off x="6948477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87389" y="3200400"/>
            <a:ext cx="1226259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5" name="Text 33"/>
          <p:cNvSpPr/>
          <p:nvPr/>
        </p:nvSpPr>
        <p:spPr>
          <a:xfrm>
            <a:off x="7387389" y="2880360"/>
            <a:ext cx="1226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Defense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87389" y="3547872"/>
            <a:ext cx="1226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wk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40496" y="3767328"/>
            <a:ext cx="146304" cy="146304"/>
          </a:xfrm>
          <a:prstGeom prst="ellipse">
            <a:avLst/>
          </a:prstGeom>
          <a:solidFill>
            <a:srgbClr val="C8741A"/>
          </a:solidFill>
          <a:ln w="19050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8" name="Text 36"/>
          <p:cNvSpPr/>
          <p:nvPr/>
        </p:nvSpPr>
        <p:spPr>
          <a:xfrm>
            <a:off x="8247888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FINANCIALS &amp;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Modest budget, fast payback, real risks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74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28016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915K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874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73152" cy="1280160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2670048" y="16276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1.25M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70048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KZT/yr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70048" y="2423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1463040"/>
            <a:ext cx="1874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5" name="Shape 13"/>
          <p:cNvSpPr/>
          <p:nvPr/>
        </p:nvSpPr>
        <p:spPr>
          <a:xfrm>
            <a:off x="4480560" y="1463040"/>
            <a:ext cx="73152" cy="128016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4681728" y="16276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81728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81728" y="2423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1463040"/>
            <a:ext cx="1874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20" name="Shape 18"/>
          <p:cNvSpPr/>
          <p:nvPr/>
        </p:nvSpPr>
        <p:spPr>
          <a:xfrm>
            <a:off x="6492240" y="1463040"/>
            <a:ext cx="73152" cy="1280160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1" name="Text 19"/>
          <p:cNvSpPr/>
          <p:nvPr/>
        </p:nvSpPr>
        <p:spPr>
          <a:xfrm>
            <a:off x="6693408" y="16276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+335K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93408" y="2103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3408" y="24231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NET GAIN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RISKS  (PROBABILITY × IMPACT)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solidFill>
            <a:srgbClr val="A33321"/>
          </a:solidFill>
          <a:ln w="12700">
            <a:solidFill>
              <a:srgbClr val="A33321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227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constraints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33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I5 · score 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3429000"/>
            <a:ext cx="228600" cy="0"/>
          </a:xfrm>
          <a:prstGeom prst="line">
            <a:avLst/>
          </a:prstGeom>
          <a:noFill/>
          <a:ln w="19050">
            <a:solidFill>
              <a:srgbClr val="C8741A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0" name="Text 28"/>
          <p:cNvSpPr/>
          <p:nvPr/>
        </p:nvSpPr>
        <p:spPr>
          <a:xfrm>
            <a:off x="402336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MVP-first; parallel docs; daily tracking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Text 30"/>
          <p:cNvSpPr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685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3886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I3 · score 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0" y="3886200"/>
            <a:ext cx="228600" cy="0"/>
          </a:xfrm>
          <a:prstGeom prst="line">
            <a:avLst/>
          </a:prstGeom>
          <a:noFill/>
          <a:ln w="19050">
            <a:solidFill>
              <a:srgbClr val="C8741A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36" name="Text 34"/>
          <p:cNvSpPr/>
          <p:nvPr/>
        </p:nvSpPr>
        <p:spPr>
          <a:xfrm>
            <a:off x="4023360" y="3749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WBS; new asks go to backlog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8" name="Text 36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142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complexity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5840" y="43434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I4 · score 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0" y="4343400"/>
            <a:ext cx="228600" cy="0"/>
          </a:xfrm>
          <a:prstGeom prst="line">
            <a:avLst/>
          </a:prstGeom>
          <a:noFill/>
          <a:ln w="19050">
            <a:solidFill>
              <a:srgbClr val="C8741A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42" name="Text 40"/>
          <p:cNvSpPr/>
          <p:nvPr/>
        </p:nvSpPr>
        <p:spPr>
          <a:xfrm>
            <a:off x="402336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dev; test each automation step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pages, one automated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0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F0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+ Vite  ·  Express  ·  SQLite  ·  JWT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contact form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920240"/>
            <a:ext cx="2606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404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admin/1234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43600" y="1920240"/>
            <a:ext cx="2606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606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1089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0972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· cart · receipt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00400" y="2880360"/>
            <a:ext cx="2606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089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04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8404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 + POs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943600" y="2880360"/>
            <a:ext cx="26060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310896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836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5836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· VAT 12%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57200" y="4160520"/>
            <a:ext cx="1691640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Text 24"/>
          <p:cNvSpPr/>
          <p:nvPr/>
        </p:nvSpPr>
        <p:spPr>
          <a:xfrm>
            <a:off x="45720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148840" y="41605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2468880" y="4160520"/>
            <a:ext cx="1691640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5" name="Text 27"/>
          <p:cNvSpPr/>
          <p:nvPr/>
        </p:nvSpPr>
        <p:spPr>
          <a:xfrm>
            <a:off x="246888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↓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160520" y="41605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4480560" y="4160520"/>
            <a:ext cx="1691640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8" name="Text 30"/>
          <p:cNvSpPr/>
          <p:nvPr/>
        </p:nvSpPr>
        <p:spPr>
          <a:xfrm>
            <a:off x="448056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172200" y="41605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6492240" y="4160520"/>
            <a:ext cx="1691640" cy="292608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1" name="Text 33"/>
          <p:cNvSpPr/>
          <p:nvPr/>
        </p:nvSpPr>
        <p:spPr>
          <a:xfrm>
            <a:off x="649224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↑</a:t>
            </a:r>
            <a:endParaRPr lang="en-US" sz="10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617720"/>
            <a:ext cx="164592" cy="16459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8580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0F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 ·  npm run dev  →  localhost:5173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RETROSPECTIVE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worked, what didn't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2F6E3A"/>
          </a:solidFill>
          <a:ln w="12700">
            <a:solidFill>
              <a:srgbClr val="2F6E3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F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WELL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167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triggers handled stock + invoice in one transaction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6334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MVP-first cut Mobile and 1C integration on time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0723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30449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gave clean, testable auth from day one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51129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400" y="34838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.db file made the demo bulletproof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141732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Z"/>
          </a:p>
        </p:txBody>
      </p:sp>
      <p:sp>
        <p:nvSpPr>
          <p:cNvPr id="17" name="Shape 14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A33321"/>
          </a:solidFill>
          <a:ln w="12700">
            <a:solidFill>
              <a:srgbClr val="A33321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33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83480" y="21945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3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212080" y="2167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were skipped — only manual checks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83480" y="26334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3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21208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last — close call before defense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983480" y="30723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3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212080" y="30449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CI/CD; deploy was local-only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983480" y="351129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3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212080" y="34838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Underestimated finance + VAT module effort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4206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i="1" dirty="0">
                <a:solidFill>
                  <a:srgbClr val="C87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600" dirty="0"/>
          </a:p>
        </p:txBody>
      </p:sp>
      <p:sp>
        <p:nvSpPr>
          <p:cNvPr id="29" name="Text 25"/>
          <p:cNvSpPr/>
          <p:nvPr/>
        </p:nvSpPr>
        <p:spPr>
          <a:xfrm>
            <a:off x="96012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scope ruthlessly, automate at the database layer, build the hardest module first.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0F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landed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905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5087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Excel across 6 branches  →  one web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82296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90195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  ·  18 endpoints  ·  14 tables  ·  4 triggers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82296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29514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 ·  4 milestones  ·  delivered on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82296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68833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915K KZT in  ·  1.25M KZT/yr out  ·  9-month payback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82296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7" name="Text 15"/>
          <p:cNvSpPr/>
          <p:nvPr/>
        </p:nvSpPr>
        <p:spPr>
          <a:xfrm>
            <a:off x="457200" y="3081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081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tracked  ·  R3 (time) was real, mitigated by MVP-first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4747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→ stock → invoice → dashboard, end-to-end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67912"/>
            <a:ext cx="8229600" cy="0"/>
          </a:xfrm>
          <a:prstGeom prst="line">
            <a:avLst/>
          </a:prstGeom>
          <a:noFill/>
          <a:ln w="19050">
            <a:solidFill>
              <a:srgbClr val="0F0F1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7772400" cy="457200"/>
          </a:xfrm>
          <a:prstGeom prst="rect">
            <a:avLst/>
          </a:prstGeom>
          <a:solidFill>
            <a:srgbClr val="1C1C1F"/>
          </a:solidFill>
          <a:ln w="12700">
            <a:solidFill>
              <a:srgbClr val="1C1C1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42976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github.com/R1nlary/aroma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F0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164592" cy="164592"/>
          </a:xfrm>
          <a:prstGeom prst="rect">
            <a:avLst/>
          </a:prstGeom>
          <a:solidFill>
            <a:srgbClr val="C8741A"/>
          </a:solidFill>
          <a:ln w="12700">
            <a:solidFill>
              <a:srgbClr val="C8741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B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comments, hard ones — ready.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github.com/R1nlary/aroma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admin / 1234   →   POS demo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LAB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Macintosh PowerPoint</Application>
  <PresentationFormat>On-screen Show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Aroma Lab — Integrated Coffee Chain ERP</dc:title>
  <dc:subject>PptxGenJS Presentation</dc:subject>
  <dc:creator>R1nlary</dc:creator>
  <cp:lastModifiedBy>Акрам Абай Серікұлы</cp:lastModifiedBy>
  <cp:revision>2</cp:revision>
  <dcterms:created xsi:type="dcterms:W3CDTF">2026-05-23T04:38:18Z</dcterms:created>
  <dcterms:modified xsi:type="dcterms:W3CDTF">2026-05-23T04:40:06Z</dcterms:modified>
</cp:coreProperties>
</file>